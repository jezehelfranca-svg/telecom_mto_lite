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8dd48897e4464a" /><Relationship Type="http://schemas.openxmlformats.org/officeDocument/2006/relationships/extended-properties" Target="/docProps/app.xml" Id="Rdd2b101d270942a4" /><Relationship Type="http://schemas.openxmlformats.org/officeDocument/2006/relationships/officeDocument" Target="/ppt/presentation.xml" Id="R9acc7646eacb41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00847963174739"/>
  </p:sldMasterIdLst>
  <p:notesMasterIdLst>
    <p:notesMasterId xmlns:r="http://schemas.openxmlformats.org/officeDocument/2006/relationships" r:id="R8576106f07ce46f4"/>
  </p:notesMasterIdLst>
  <p:sldIdLst>
    <p:sldId xmlns:r="http://schemas.openxmlformats.org/officeDocument/2006/relationships" id="256" r:id="R5be5c9b4eb4d4c8f"/>
    <p:sldId xmlns:r="http://schemas.openxmlformats.org/officeDocument/2006/relationships" id="257" r:id="Ra99c2fbea8d24ecc"/>
    <p:sldId xmlns:r="http://schemas.openxmlformats.org/officeDocument/2006/relationships" id="258" r:id="Re8285c50dbbb4426"/>
    <p:sldId xmlns:r="http://schemas.openxmlformats.org/officeDocument/2006/relationships" id="259" r:id="Re89b1a87ae9d4bfc"/>
    <p:sldId xmlns:r="http://schemas.openxmlformats.org/officeDocument/2006/relationships" id="260" r:id="Re2860774e3d04073"/>
    <p:sldId xmlns:r="http://schemas.openxmlformats.org/officeDocument/2006/relationships" id="261" r:id="R165a5cea8db84374"/>
    <p:sldId xmlns:r="http://schemas.openxmlformats.org/officeDocument/2006/relationships" id="262" r:id="R94cba23b76594333"/>
    <p:sldId xmlns:r="http://schemas.openxmlformats.org/officeDocument/2006/relationships" id="263" r:id="Re9f26f9320c24882"/>
    <p:sldId xmlns:r="http://schemas.openxmlformats.org/officeDocument/2006/relationships" id="264" r:id="R0ef35d36c7ec40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d80e7fa11a4fdb" /><Relationship Type="http://schemas.openxmlformats.org/officeDocument/2006/relationships/slideMaster" Target="/ppt/slideMasters/slideMaster1.xml" Id="Rf300847963174739" /><Relationship Type="http://schemas.openxmlformats.org/officeDocument/2006/relationships/notesMaster" Target="/ppt/notesMasters/notesMaster1.xml" Id="R8576106f07ce46f4" /><Relationship Type="http://schemas.openxmlformats.org/officeDocument/2006/relationships/presProps" Target="/ppt/presProps.xml" Id="R16a97141e4ab4afd" /><Relationship Type="http://schemas.openxmlformats.org/officeDocument/2006/relationships/tableStyles" Target="/ppt/tableStyles.xml" Id="Rdb4ce4ec0f394eae" /><Relationship Type="http://schemas.openxmlformats.org/officeDocument/2006/relationships/slide" Target="/ppt/slides/slide1.xml" Id="R5be5c9b4eb4d4c8f" /><Relationship Type="http://schemas.openxmlformats.org/officeDocument/2006/relationships/slide" Target="/ppt/slides/slide2.xml" Id="Ra99c2fbea8d24ecc" /><Relationship Type="http://schemas.openxmlformats.org/officeDocument/2006/relationships/slide" Target="/ppt/slides/slide3.xml" Id="Re8285c50dbbb4426" /><Relationship Type="http://schemas.openxmlformats.org/officeDocument/2006/relationships/slide" Target="/ppt/slides/slide4.xml" Id="Re89b1a87ae9d4bfc" /><Relationship Type="http://schemas.openxmlformats.org/officeDocument/2006/relationships/slide" Target="/ppt/slides/slide5.xml" Id="Re2860774e3d04073" /><Relationship Type="http://schemas.openxmlformats.org/officeDocument/2006/relationships/slide" Target="/ppt/slides/slide6.xml" Id="R165a5cea8db84374" /><Relationship Type="http://schemas.openxmlformats.org/officeDocument/2006/relationships/slide" Target="/ppt/slides/slide7.xml" Id="R94cba23b76594333" /><Relationship Type="http://schemas.openxmlformats.org/officeDocument/2006/relationships/slide" Target="/ppt/slides/slide8.xml" Id="Re9f26f9320c24882" /><Relationship Type="http://schemas.openxmlformats.org/officeDocument/2006/relationships/slide" Target="/ppt/slides/slide9.xml" Id="R0ef35d36c7ec40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77bd958aee42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b348c98324030" /><Relationship Type="http://schemas.openxmlformats.org/officeDocument/2006/relationships/notesMaster" Target="/ppt/notesMasters/notesMaster1.xml" Id="Rc4e8bd8d3610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fd6193eea546db" /><Relationship Type="http://schemas.openxmlformats.org/officeDocument/2006/relationships/notesMaster" Target="/ppt/notesMasters/notesMaster1.xml" Id="R605afa6b567345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1c223feb0149b5" /><Relationship Type="http://schemas.openxmlformats.org/officeDocument/2006/relationships/notesMaster" Target="/ppt/notesMasters/notesMaster1.xml" Id="R3fc6993fb27744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34dced1c0f45e4" /><Relationship Type="http://schemas.openxmlformats.org/officeDocument/2006/relationships/notesMaster" Target="/ppt/notesMasters/notesMaster1.xml" Id="Rbbb0c57f2e024b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66c7a2a9544523" /><Relationship Type="http://schemas.openxmlformats.org/officeDocument/2006/relationships/notesMaster" Target="/ppt/notesMasters/notesMaster1.xml" Id="Rb267d218cc594b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489d2d5393490f" /><Relationship Type="http://schemas.openxmlformats.org/officeDocument/2006/relationships/notesMaster" Target="/ppt/notesMasters/notesMaster1.xml" Id="R5de6cc2884f843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8606039f744d00" /><Relationship Type="http://schemas.openxmlformats.org/officeDocument/2006/relationships/notesMaster" Target="/ppt/notesMasters/notesMaster1.xml" Id="Rd2505a03d1684d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1c05ef80ac4afa" /><Relationship Type="http://schemas.openxmlformats.org/officeDocument/2006/relationships/notesMaster" Target="/ppt/notesMasters/notesMaster1.xml" Id="R75b40e9b1e784d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1f3e175df54312" /><Relationship Type="http://schemas.openxmlformats.org/officeDocument/2006/relationships/notesMaster" Target="/ppt/notesMasters/notesMaster1.xml" Id="R87d905816ebd4a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upstream Telecom_MTO README.md and docs/USER_MANUAL.md. Lite page names cross-checked against the standalone app and the supplied HEC MTO Builder navigation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Telecom_MTO README.md + docs/USER_MANUAL.md (Lite scope)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Telecom_MTO README.md + docs/USER_MANUAL.md (Lite scope)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Telecom_MTO README.md + docs/USER_MANUAL.md (Lite scope)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Telecom_MTO README.md + docs/USER_MANUAL.md (Lite scope)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Telecom_MTO README.md + docs/USER_MANUAL.md (Lite scope)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Telecom_MTO README.md + docs/USER_MANUAL.md (Lite scope)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Telecom_MTO README.md + docs/USER_MANUAL.md (Lite scope)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upstream Telecom_MTO README.md and docs/USER_MANUAL.md. Final checklist is condensed to the Lite pages and intended as a pre-issue visual aid.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0e110c1af45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41b89ac93145ec" /><Relationship Type="http://schemas.openxmlformats.org/officeDocument/2006/relationships/slideLayout" Target="/ppt/slideLayouts/slideLayout1.xml" Id="R84bb5a97b1324e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b5a97b132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4d7bded9f47a0" /><Relationship Type="http://schemas.openxmlformats.org/officeDocument/2006/relationships/image" Target="/ppt/media/image.png" Id="R4d151dd8e9a240b7" /><Relationship Type="http://schemas.openxmlformats.org/officeDocument/2006/relationships/notesSlide" Target="/ppt/notesSlides/notesSlide1.xml" Id="R2fa07191b0e6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5c33cb1db4010" /><Relationship Type="http://schemas.openxmlformats.org/officeDocument/2006/relationships/notesSlide" Target="/ppt/notesSlides/notesSlide2.xml" Id="R86e2a5380fdf49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54de4b033409e" /><Relationship Type="http://schemas.openxmlformats.org/officeDocument/2006/relationships/notesSlide" Target="/ppt/notesSlides/notesSlide3.xml" Id="Rbbb9c5bd591043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0e1d11e0443ce" /><Relationship Type="http://schemas.openxmlformats.org/officeDocument/2006/relationships/notesSlide" Target="/ppt/notesSlides/notesSlide4.xml" Id="Rc481032359b847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c26abe4c94b83" /><Relationship Type="http://schemas.openxmlformats.org/officeDocument/2006/relationships/notesSlide" Target="/ppt/notesSlides/notesSlide5.xml" Id="Rcb4984d70fb54a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5a7a1d67d4b94" /><Relationship Type="http://schemas.openxmlformats.org/officeDocument/2006/relationships/notesSlide" Target="/ppt/notesSlides/notesSlide6.xml" Id="Rd9805bae49484c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58ca449134233" /><Relationship Type="http://schemas.openxmlformats.org/officeDocument/2006/relationships/notesSlide" Target="/ppt/notesSlides/notesSlide7.xml" Id="R05a0faccaf1947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d2ad54dd04200" /><Relationship Type="http://schemas.openxmlformats.org/officeDocument/2006/relationships/notesSlide" Target="/ppt/notesSlides/notesSlide8.xml" Id="R0c5785737c4640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3b06e4a5844b0" /><Relationship Type="http://schemas.openxmlformats.org/officeDocument/2006/relationships/notesSlide" Target="/ppt/notesSlides/notesSlide9.xml" Id="R504fb581171148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132913-C5BE-4937-8F7D-C8C30AAA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HEC MTO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A21BC-7382-4F38-B72C-8DDEC35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Telecom MTO 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CFD63-26A0-4E82-A991-23D03316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17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A practical guide from drawing to BOQ-ready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BFEC4-FDAA-4ED0-AF54-51D4037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4857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0">
            <a:solidFill>
              <a:srgbClr val="101A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F506A-7DE6-43FE-853E-BC89C96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3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focused pages  •  offline-friendly  •  one standalone 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9BE8F-94AD-4B24-AFF1-D85C271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Use this deck as the quick visual companion to the in-app manual.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FE1F8-1DB0-4FF3-877C-6CD72278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"/>
            <a:ext cx="3048000" cy="594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0">
            <a:solidFill>
              <a:srgbClr val="101A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51dd8e9a240b7"/>
          <a:stretch xmlns:a="http://schemas.openxmlformats.org/drawingml/2006/main"/>
        </p:blipFill>
        <p:spPr>
          <a:xfrm xmlns:a="http://schemas.openxmlformats.org/drawingml/2006/main">
            <a:off x="7482294" y="742950"/>
            <a:ext cx="2370912" cy="5467350"/>
          </a:xfrm>
          <a:prstGeom xmlns:a="http://schemas.openxmlformats.org/drawingml/2006/main" prst="roundRect">
            <a:avLst>
              <a:gd name="adj" fmla="val 546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DE4A7-BCC8-4797-9C88-E6C82B94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238250"/>
            <a:ext cx="12001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The workflow is deliberately small: takeoff, register, size, hand off.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68013-E3B6-4280-BB7F-339BA4B3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8165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2FE70DD-71D1-4D73-9DFF-E47C6485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E2CEF9-3E9B-40BC-B443-E0140AB7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Follow the pages in this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2A7B9-8531-4FB1-82CB-33EA7BF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8441E-287A-45A0-B4FC-3B8E11EA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Keep the drawing, quantities, sizing checks, and handoff records connected.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A7DC4-626B-4A47-BEA6-54B065EA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622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D5FF"/>
          </a:solidFill>
          <a:ln xmlns:a="http://schemas.openxmlformats.org/drawingml/2006/main" w="0">
            <a:solidFill>
              <a:srgbClr val="A8D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DBE8F-6FB2-4726-A21E-BD1A7AB0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D5FF"/>
          </a:solidFill>
          <a:ln xmlns:a="http://schemas.openxmlformats.org/drawingml/2006/main" w="0">
            <a:solidFill>
              <a:srgbClr val="A8D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10CBC-369D-4258-AD3B-C458FEFD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D5FF"/>
          </a:solidFill>
          <a:ln xmlns:a="http://schemas.openxmlformats.org/drawingml/2006/main" w="0">
            <a:solidFill>
              <a:srgbClr val="A8D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30891-8B7D-4BA7-967C-6A0B0B6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D5FF"/>
          </a:solidFill>
          <a:ln xmlns:a="http://schemas.openxmlformats.org/drawingml/2006/main" w="0">
            <a:solidFill>
              <a:srgbClr val="A8D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7E5D5-BA59-4CF3-AC3E-44591D0D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F0ECD-10BF-4DB9-977F-29C202C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  DRAWING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4C11B-D802-4624-B682-601AC2B3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76500"/>
            <a:ext cx="1676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Load • calibrate • set datum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38015-64CB-427C-955E-B2F58FBC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9FF"/>
          </a:solidFill>
          <a:ln xmlns:a="http://schemas.openxmlformats.org/drawingml/2006/main" w="0">
            <a:solidFill>
              <a:srgbClr val="4B4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31AAF-B2E2-44D3-845E-030E2485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  TAKEOFF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D95E7-8ABA-42C2-B286-2C97C670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1676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Place points • measure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668CC-20F2-41D8-8602-1CEC9EC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solidFill>
              <a:srgbClr val="1F9D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6F55B-2953-43CC-A23E-7C5A82B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76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3 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8C7CD-F049-4031-A31A-87A98614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1676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Tag • zone • route • 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C6220-9011-4D17-B1F1-68A20A2B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422"/>
          </a:solidFill>
          <a:ln xmlns:a="http://schemas.openxmlformats.org/drawingml/2006/main" w="0">
            <a:solidFill>
              <a:srgbClr val="D994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F377E-4077-4280-80F3-59799847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4  REGISTER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E12E1-13EF-4143-A183-72EEC6B2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676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Filter • reconcile • 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4603B-8840-46F0-B44A-596BCBD6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A2C"/>
          </a:solidFill>
          <a:ln xmlns:a="http://schemas.openxmlformats.org/drawingml/2006/main" w="0">
            <a:solidFill>
              <a:srgbClr val="101A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F33E3-75AE-445D-B8CF-F7D10BBD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76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5  HANDOFF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B1B6C-74D6-45BD-AD56-F765B33B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76500"/>
            <a:ext cx="1676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Build deliverable • BOQ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683F19-C32E-4EB7-A52E-EE56D69E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1532FC-2AF3-4F81-BD10-2B73E84B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A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A2C"/>
                </a:solidFill>
                <a:latin typeface="Arial"/>
                <a:ea typeface="Arial"/>
                <a:cs typeface="Arial"/>
              </a:rPr>
              <a:t>The safety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7B622-FCA3-45F6-B019-EBBDD9FA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1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Do not turn an old revision into a current total. Use Latest per Drawing for project quantities; keep All Saved Instances for audit and recovery.</a:t>
            </a:r>
          </a:p>
        </p:txBody>
      </p:sp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7CBB1563-1D9F-49BB-818A-7195173A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Source: Telecom_MTO README.md + docs/USER_MANUAL.md (Lite scope)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4650A3CE-173B-46D6-8957-B0488E11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4008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097D8B3-5285-4502-9A2F-505EA1F1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01  /  DRAWING SETUP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A4CA6B-5646-4640-9C8D-9E54C5DB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Calibrate before you take off anything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CC7F3-FCB6-4233-AE05-14FB5FF5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FEA01-BB69-4634-8BEE-C0FB0F3E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A clean first five minutes prevents every later length from drifting.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5DC6D-EA6B-4819-91D1-86AAE89B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70079-3461-4E2D-A027-B2E101F8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F6A77-53A1-4B3F-8E72-087B0187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Choose Start New Drawing Workspace for a different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55F23-9D20-490B-B5A2-A6A0102B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CE689-C82B-4C2F-8688-57236463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2E250-CCBB-49A8-94CC-26729CCC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4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Load a PDF, image, or DXF and confirm the page is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5F06E-6310-4514-8217-B19D7EDF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E0FF8-A629-46FD-B0B2-FBE4A23C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715F0-8787-4302-9533-D13FBB2F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Click two known endpoints and enter the real distance + unit.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536E7-3AB4-4288-9206-45BF9310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EB859-066A-4ECD-A909-061556E5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00F14-C97A-4B83-B1BF-9AA2F81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Check a second known dimension before production takeoff.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A744C-94A3-430B-BF60-83E8AE3A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65785-08E2-441C-94FB-061CE63E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308E0-EE20-4516-B85C-AFC92901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Set the drawing coordinate base point for X=0, Y=0, Z=0.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4D8E3-07D7-4032-BDF9-56C3BF92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46863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1BFB7-5E9B-4023-A46F-4A75B354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3867150" cy="3048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0BD2A-EEC3-472D-9CF4-9BD67755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A3B12-0DE4-4FDD-9A5A-14FF1B12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AD417-911C-4753-8917-DFC3661D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E6DDD-1C6A-4AA3-83AA-083780FA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F286C-C530-4D0E-BF58-F90F08BD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479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E1D005-3F5D-46ED-AD3D-918F4EEA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479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37071-767D-4E11-B1DA-1F3B4C9D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051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06E7DB-7612-4E7E-8807-3F8ECB2B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147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D1749-C5E1-4CA4-8321-CA12D6D3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243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FF7C4-E5BA-40FE-BFC9-15374833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339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4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0111E-6A96-4788-AD94-CD5212C2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7C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08270C-B0F0-47C5-91FB-9CBC6FB9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B9E6A7-1454-4144-9882-11CB8431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4B0482-B664-41D2-94E6-DE0F15B2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8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known distance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D2DE7-969D-42EB-A23D-569C861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2552700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58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EB4C2D-40F7-481D-A8C2-E2C4C4BF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858"/>
          </a:solidFill>
          <a:ln xmlns:a="http://schemas.openxmlformats.org/drawingml/2006/main" w="0">
            <a:solidFill>
              <a:srgbClr val="C958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F8B052-77DF-4FEA-956F-91046472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962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858"/>
          </a:solidFill>
          <a:ln xmlns:a="http://schemas.openxmlformats.org/drawingml/2006/main" w="0">
            <a:solidFill>
              <a:srgbClr val="C958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A4F193-88BD-4DA1-ADF7-22C67880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244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A2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B93AA7-4942-499C-964A-8A27C3A9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6247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A2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0E9C1E-E080-4F4F-94FC-60DECE7E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A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A2C"/>
                </a:solidFill>
                <a:latin typeface="Arial"/>
                <a:ea typeface="Arial"/>
                <a:cs typeface="Arial"/>
              </a:rPr>
              <a:t>X0 / Y0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FAFFEA-241B-49C6-8722-F4845362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95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Known dimension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3582BF-F72F-4A84-B654-7FBE6E6A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959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958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5858"/>
                </a:solidFill>
                <a:latin typeface="Arial"/>
                <a:ea typeface="Arial"/>
                <a:cs typeface="Arial"/>
              </a:rPr>
              <a:t>Scale check</a:t>
            </a:r>
          </a:p>
        </p:txBody>
      </p:sp>
      <p:sp>
        <p:nvSpPr>
          <p:cNvPr id="44" name="source">
            <a:extLst xmlns:a="http://schemas.openxmlformats.org/drawingml/2006/main">
              <a:ext uri="{FF2B5EF4-FFF2-40B4-BE49-F238E27FC236}">
                <a16:creationId xmlns:a16="http://schemas.microsoft.com/office/drawing/2014/main" id="{663D2633-2E1F-4D91-9D2B-E37FE77A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Source: Telecom_MTO README.md + docs/USER_MANUAL.md (Lite scope)</a:t>
            </a:r>
          </a:p>
        </p:txBody>
      </p:sp>
      <p:sp>
        <p:nvSpPr>
          <p:cNvPr id="45" name="page">
            <a:extLst xmlns:a="http://schemas.openxmlformats.org/drawingml/2006/main">
              <a:ext uri="{FF2B5EF4-FFF2-40B4-BE49-F238E27FC236}">
                <a16:creationId xmlns:a16="http://schemas.microsoft.com/office/drawing/2014/main" id="{776D7D6F-0F69-411F-BF24-235BCDD3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3081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5A67199-CF9A-4453-A8B8-13663B06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02  /  TAKEOFF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BB4BA0-D80A-413A-B116-E9FB6A80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Keep measured length separate from purchasing allowance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E3712-989D-4657-882E-4F184E21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E5663-E06F-4DD7-BCAD-39F141D6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80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The register is auditable because it preserves the field measurement and the BOQ allowance as different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A7D61-E7D1-489F-9E5A-0CA86844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38290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6445A-C29B-4620-96B3-4192642B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A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A2C"/>
                </a:solidFill>
                <a:latin typeface="Arial"/>
                <a:ea typeface="Arial"/>
                <a:cs typeface="Arial"/>
              </a:rPr>
              <a:t>Two takeoff 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F2368-D6C1-4B12-BBF3-8563E340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B7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35893-B148-41DE-9477-9A13C1E9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17F40-0EB6-4B4F-B02F-9146AE8B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Point /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50344-276D-4112-8889-906DB757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Cameras, speakers, cabinets, devices, accessories.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117D9-CAF7-412A-8F12-FC6E44E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B4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75EB1-0F88-42F2-8475-0E0E36ED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9FF"/>
          </a:solidFill>
          <a:ln xmlns:a="http://schemas.openxmlformats.org/drawingml/2006/main" w="0">
            <a:solidFill>
              <a:srgbClr val="4B4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08C40-98E6-4DFE-AF59-15677375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49FF"/>
          </a:solidFill>
          <a:ln xmlns:a="http://schemas.openxmlformats.org/drawingml/2006/main" w="0">
            <a:solidFill>
              <a:srgbClr val="4B49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DCCE2-CA27-49B7-8074-437FC6F5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Linear measurement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CF90A-46ED-46B0-A7FD-A7FA4F17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Cable, conduit, tray, duct, and other continuous runs.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BDCBD-CBC9-448A-9206-23E3B4B7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52650"/>
            <a:ext cx="68199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0">
            <a:solidFill>
              <a:srgbClr val="101A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C3499-D4C4-4AD1-8D51-7217C2DC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quantity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A5EEE-ABC5-44C9-BD2C-70BF28CE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337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D5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D5FF"/>
                </a:solidFill>
                <a:latin typeface="Arial"/>
                <a:ea typeface="Arial"/>
                <a:cs typeface="Arial"/>
              </a:rPr>
              <a:t>Adjusted Length = Actual + route / vertical allowance + sag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A05DF-5567-4F29-B365-0F464F55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528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BOQ Length = Adjusted × (1 + waste %) + service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64F4A-14EF-413C-BACA-E5F1A437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05250"/>
            <a:ext cx="573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5A84"/>
            </a:solidFill>
            <a:prstDash val="solid"/>
          </a:ln>
        </p:spPr>
      </p:sp>
      <p:graphicFrame>
        <p:nvGraphicFramePr>
          <p:cNvPr id="44" name=""/>
          <p:cNvGraphicFramePr/>
          <p:nvPr/>
        </p:nvGraphicFramePr>
        <p:xfrm>
          <a:off xmlns:a="http://schemas.openxmlformats.org/drawingml/2006/main" x="5200650" y="4114800"/>
          <a:ext xmlns:a="http://schemas.openxmlformats.org/drawingml/2006/main" cx="5581650" cy="1162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90825"/>
                <a:gridCol w="2790825"/>
              </a:tblGrid>
              <a:tr h="2905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2B7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it for</a:t>
                      </a:r>
                    </a:p>
                  </a:txBody>
                  <a:tcPr marL="91440" marR="91440" marT="45720" marB="45720">
                    <a:solidFill>
                      <a:srgbClr val="2B7CF6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</a:t>
                      </a:r>
                    </a:p>
                  </a:txBody>
                  <a:tcPr marL="91440" marR="91440" marT="45720" marB="45720">
                    <a:solidFill>
                      <a:srgbClr val="182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Drawing label / field measurement</a:t>
                      </a:r>
                    </a:p>
                  </a:txBody>
                  <a:tcPr marL="91440" marR="91440" marT="45720" marB="45720">
                    <a:solidFill>
                      <a:srgbClr val="18264A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Margin</a:t>
                      </a:r>
                    </a:p>
                  </a:txBody>
                  <a:tcPr marL="91440" marR="91440" marT="45720" marB="45720">
                    <a:solidFill>
                      <a:srgbClr val="1826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Allowance added above actual</a:t>
                      </a:r>
                    </a:p>
                  </a:txBody>
                  <a:tcPr marL="91440" marR="91440" marT="45720" marB="45720">
                    <a:solidFill>
                      <a:srgbClr val="18264A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BOQ</a:t>
                      </a:r>
                    </a:p>
                  </a:txBody>
                  <a:tcPr marL="91440" marR="91440" marT="45720" marB="45720">
                    <a:solidFill>
                      <a:srgbClr val="4B4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Purchasing quantity after allowance</a:t>
                      </a:r>
                    </a:p>
                  </a:txBody>
                  <a:tcPr marL="91440" marR="91440" marT="45720" marB="45720">
                    <a:solidFill>
                      <a:srgbClr val="4B49FF"/>
                    </a:solidFill>
                  </a:tcPr>
                </a:tc>
              </a:tr>
            </a:tbl>
          </a:graphicData>
        </a:graphic>
      </p:graphicFrame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7204CA1E-41F0-4768-AE83-41AD7FBF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Source: Telecom_MTO README.md + docs/USER_MANUAL.md (Lite scope)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831BF6F3-C6ED-4B44-BFBD-1EE92B64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6942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FE00BCA-CC8B-4F6A-BB0C-0AFB8CD9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03  / 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A37C46-6678-4757-835E-09FE8F4D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Location and route logic must be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64D55-51F0-496E-9933-E3BCAEFC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7D286-53C9-412E-B9F8-D98113FA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Zones assign location; route nodes authorize where a cable may enter, exit, branch, or change elevation.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5E466-B005-4F88-8860-E1BA04F8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486400" cy="3143250"/>
          </a:xfrm>
          <a:custGeom xmlns:a="http://schemas.openxmlformats.org/drawingml/2006/main">
            <a:pathLst>
              <a:path w="9525000" h="6096000">
                <a:moveTo>
                  <a:pt x="762000" y="762000"/>
                </a:moveTo>
                <a:lnTo>
                  <a:pt x="7810500" y="190500"/>
                </a:lnTo>
                <a:lnTo>
                  <a:pt x="9144000" y="2381250"/>
                </a:lnTo>
                <a:lnTo>
                  <a:pt x="7429500" y="5715000"/>
                </a:lnTo>
                <a:lnTo>
                  <a:pt x="1524000" y="5334000"/>
                </a:lnTo>
                <a:lnTo>
                  <a:pt x="190500" y="2667000"/>
                </a:lnTo>
                <a:close/>
              </a:path>
            </a:pathLst>
          </a:custGeom>
          <a:solidFill xmlns:a="http://schemas.openxmlformats.org/drawingml/2006/main">
            <a:srgbClr val="F0F6FF"/>
          </a:solidFill>
          <a:ln xmlns:a="http://schemas.openxmlformats.org/drawingml/2006/main" w="19050">
            <a:solidFill>
              <a:srgbClr val="A8D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0187A-9EB6-4BC9-82C1-699040D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WBS zone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71879-EFA8-42D9-848C-06CAC588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29300"/>
            <a:ext cx="4248150" cy="-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2FCA6-D9A6-42DC-B35D-C20E3D8C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29300"/>
            <a:ext cx="3143250" cy="-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A06B8-5746-49ED-BF3F-CC74082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29300"/>
            <a:ext cx="46291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FF826-FEB9-4929-9FEE-568EA9AE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A13E6-81F6-4F60-8577-F34C3AAF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71A6F-31E1-4497-9B14-0B44DD4B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52A16-FB27-48F1-A633-EA38D339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76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66E97-5DE5-48A2-8522-ECE993C1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57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35F43-1CFD-4470-8364-17C7F469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81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junction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6CAB6-176E-48B1-9CD8-FA1FEB40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43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F408C-E678-4AAF-8452-E17285BF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67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riser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C9F5F-8502-4493-A013-8776953D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62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3700B-C7E1-495D-A812-60100E81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286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destination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69C39-B9B9-4F0A-B0AC-5C262CA3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00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58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5858"/>
                </a:solidFill>
                <a:latin typeface="Arial"/>
                <a:ea typeface="Arial"/>
                <a:cs typeface="Arial"/>
              </a:rPr>
              <a:t>corridor bend ≠ branch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BA1AD-1BD6-4D5F-8509-9B81AC20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4819650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E7328-1C55-469C-9DEA-8C0945EC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A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A2C"/>
                </a:solidFill>
                <a:latin typeface="Arial"/>
                <a:ea typeface="Arial"/>
                <a:cs typeface="Arial"/>
              </a:rPr>
              <a:t>Route review sequence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6574F-F21A-4A7E-9BB9-FB47F114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E3BF0-976F-4727-9799-B5FE2D66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289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5D67D-43A7-45F4-BCE4-930D2E44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Tag source + destination equipment.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64184-ED0A-4A3E-8BD2-BBB6C887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28B82-2C22-44E0-A8CA-158BBC44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48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8D96A-9BE7-48C3-AB84-A3C043BD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Draw corridors along permitted paths.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64C5A-6F1F-4EE0-B406-EAA71E66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EA2DAB-81B5-439C-90F9-6769ECA5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671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28AF3-F2A5-48D7-8FA6-CC4A5AA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57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3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Place nodes at entry, exit, branch, riser, penetration, pull box, or manhole.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1D23A8-D881-404B-991E-6B968829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624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939D4C-70B5-4C60-88EE-08C5C1CD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529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E08B61-0813-4AFD-9D38-DCBB51B5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3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Enter elevations, cable OD, capacity, fill, spare, and allowances.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151814-CDB7-4FD6-B2A1-894A5304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67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9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585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5858"/>
                </a:solidFill>
                <a:latin typeface="Arial"/>
                <a:ea typeface="Arial"/>
                <a:cs typeface="Arial"/>
              </a:rPr>
              <a:t>A corridor bend is geometry only — it is not a branch.</a:t>
            </a:r>
          </a:p>
        </p:txBody>
      </p:sp>
      <p:sp>
        <p:nvSpPr>
          <p:cNvPr id="36" name="source">
            <a:extLst xmlns:a="http://schemas.openxmlformats.org/drawingml/2006/main">
              <a:ext uri="{FF2B5EF4-FFF2-40B4-BE49-F238E27FC236}">
                <a16:creationId xmlns:a16="http://schemas.microsoft.com/office/drawing/2014/main" id="{FF11FB0F-6334-4BE3-BE39-1C0F8012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Source: Telecom_MTO README.md + docs/USER_MANUAL.md (Lite scope)</a:t>
            </a:r>
          </a:p>
        </p:txBody>
      </p:sp>
      <p:sp>
        <p:nvSpPr>
          <p:cNvPr id="37" name="page">
            <a:extLst xmlns:a="http://schemas.openxmlformats.org/drawingml/2006/main">
              <a:ext uri="{FF2B5EF4-FFF2-40B4-BE49-F238E27FC236}">
                <a16:creationId xmlns:a16="http://schemas.microsoft.com/office/drawing/2014/main" id="{EF767D68-E7D5-4357-84C8-BFD2546C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5352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9DB7007-E79D-4A01-83E7-DF7743CF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04  /  CONTAINMENT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E54478-E486-4123-932E-4E32DABF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Size from tag-linked inputs, then review the section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D33C6-AFC1-4147-BA32-1E53369F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D1F52-4DBB-447D-AA47-AABDD935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Cable Tray Sizing and Duct Bank Sizing are review pages: use them to catch fill, segregation, and envelope issues before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61F96-2E49-41B3-A0C7-BE17B249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2B695-66B2-4BF6-9B1D-8B32FFD6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TRAY SECTION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93446-EBAD-430D-8BB3-B4C95AF7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3390900" cy="11239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28575">
            <a:solidFill>
              <a:srgbClr val="2B7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147A1-F9DF-4CE8-8783-EE3DAA64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304800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B8564-C271-4EAA-94CB-413BAF8A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932" y="321945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7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0377E-4965-4D3C-949A-383BC8DB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F9D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4D3F8-4643-41ED-A2AA-E2CEDD2B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33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F9D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D8127-1CAA-4A16-8F00-4FEC555A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33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F9D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01A82-19D7-4795-9BF0-98333465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33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A8D5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12F7A-130C-447F-9032-02E269C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A8D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6A516-9F83-4EA2-8C6F-5464BE0C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19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cable fill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ACD6C-9669-455D-B736-E6DB3D5B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segregation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5EBE8-2FB0-47C6-AA88-EC8D5C73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Check: tray tag • cable schedule • fill • segregation • dimensions • supports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20C15-D2C2-4FF6-8F81-23DC014B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56578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4E2F5-415E-4E27-BD07-4AE91AC2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DUCT BANK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B595E-76E9-419E-9EE3-7CA8F9E1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190750" cy="219075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19050">
            <a:solidFill>
              <a:srgbClr val="61708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3B682-004D-4EB5-A6EB-BAA25B80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858"/>
          </a:solidFill>
          <a:ln xmlns:a="http://schemas.openxmlformats.org/drawingml/2006/main" w="19050">
            <a:solidFill>
              <a:srgbClr val="C958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B4F06-1F15-47C6-B270-3B965C6A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D8D8"/>
          </a:solidFill>
          <a:ln xmlns:a="http://schemas.openxmlformats.org/drawingml/2006/main" w="9525">
            <a:solidFill>
              <a:srgbClr val="C958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44446-15B5-4CB3-B901-29433D3E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858"/>
          </a:solidFill>
          <a:ln xmlns:a="http://schemas.openxmlformats.org/drawingml/2006/main" w="19050">
            <a:solidFill>
              <a:srgbClr val="C958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E9F66-AE60-4092-8850-3F9DD85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D8D8"/>
          </a:solidFill>
          <a:ln xmlns:a="http://schemas.openxmlformats.org/drawingml/2006/main" w="9525">
            <a:solidFill>
              <a:srgbClr val="C958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4EDBA-D3A8-4E3E-BE13-2D30A357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858"/>
          </a:solidFill>
          <a:ln xmlns:a="http://schemas.openxmlformats.org/drawingml/2006/main" w="19050">
            <a:solidFill>
              <a:srgbClr val="C958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AE852-7418-4C1C-A6C0-43FA8DFD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38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D8D8"/>
          </a:solidFill>
          <a:ln xmlns:a="http://schemas.openxmlformats.org/drawingml/2006/main" w="9525">
            <a:solidFill>
              <a:srgbClr val="C958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ED576-5240-47D9-A3B9-8BD42355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95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858"/>
          </a:solidFill>
          <a:ln xmlns:a="http://schemas.openxmlformats.org/drawingml/2006/main" w="19050">
            <a:solidFill>
              <a:srgbClr val="C958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733B2-8933-4B0E-9A53-1D77C42F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838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D8D8"/>
          </a:solidFill>
          <a:ln xmlns:a="http://schemas.openxmlformats.org/drawingml/2006/main" w="9525">
            <a:solidFill>
              <a:srgbClr val="C958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5D4C6C-1FF4-4A1F-957B-55A45489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1708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079F78-7718-4BE2-9729-A0FBC20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4E866-960D-489B-AA51-57F9C6C3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62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1708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1D8141-5499-4060-9EAA-9094FAA6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505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5E786A-8403-4ED3-B399-83301D80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86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585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95858"/>
                </a:solidFill>
                <a:latin typeface="Arial"/>
                <a:ea typeface="Arial"/>
                <a:cs typeface="Arial"/>
              </a:rPr>
              <a:t>red = occupied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52245B-2016-4713-B35A-FC26D072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86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white = spare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6518F-164E-4CB3-8FF8-431E27D7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A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A2C"/>
                </a:solidFill>
                <a:latin typeface="Arial"/>
                <a:ea typeface="Arial"/>
                <a:cs typeface="Arial"/>
              </a:rPr>
              <a:t>Automatic layouts use two columns and grow vertically.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B5FBB6-788C-49C6-919E-1287CB6F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Reference envelopes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AF3314-D6DB-4690-8875-C9F8D63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400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4 ducts  •  505 × 445 mm</a:t>
            </a:r>
          </a:p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6 ducts  •  505 × 620 mm</a:t>
            </a:r>
          </a:p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8 ducts  •  505 × 795 mm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F397E0-7228-4981-B0AF-34496E8C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Edit defaults when the project detail differs. Use 0 to return an input to automatic sizing.</a:t>
            </a:r>
          </a:p>
        </p:txBody>
      </p:sp>
      <p:sp>
        <p:nvSpPr>
          <p:cNvPr id="39" name="source">
            <a:extLst xmlns:a="http://schemas.openxmlformats.org/drawingml/2006/main">
              <a:ext uri="{FF2B5EF4-FFF2-40B4-BE49-F238E27FC236}">
                <a16:creationId xmlns:a16="http://schemas.microsoft.com/office/drawing/2014/main" id="{A986DC90-68C3-4533-89F3-52CF5F54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Source: Telecom_MTO README.md + docs/USER_MANUAL.md (Lite scope)</a:t>
            </a:r>
          </a:p>
        </p:txBody>
      </p:sp>
      <p:sp>
        <p:nvSpPr>
          <p:cNvPr id="40" name="page">
            <a:extLst xmlns:a="http://schemas.openxmlformats.org/drawingml/2006/main">
              <a:ext uri="{FF2B5EF4-FFF2-40B4-BE49-F238E27FC236}">
                <a16:creationId xmlns:a16="http://schemas.microsoft.com/office/drawing/2014/main" id="{D793CF00-8743-4EA6-9DAE-E66FDF9C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1722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C493CA3-4E19-47E2-ADC0-8C6BFF23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05  /  REGISTER + HANDOFF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D9642B-2D59-4CBF-93A3-33ED05AE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Registers turn a drawing into a controlled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D113A-A7A3-4736-8339-4246C54E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EFBAE-DF0A-441E-AD06-3689EEB6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Move left to right: filter the right revision, shape the deliverable, then review the BOQ mapping.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D4E03-6F12-48AB-AE96-C5196455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718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D5FF"/>
          </a:solidFill>
          <a:ln xmlns:a="http://schemas.openxmlformats.org/drawingml/2006/main" w="0">
            <a:solidFill>
              <a:srgbClr val="A8D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34F46-3AC5-4879-803B-A24B49B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718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D5FF"/>
          </a:solidFill>
          <a:ln xmlns:a="http://schemas.openxmlformats.org/drawingml/2006/main" w="0">
            <a:solidFill>
              <a:srgbClr val="A8D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C4291-B6AC-47CF-B3F4-50BDBFD4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D5FF"/>
          </a:solidFill>
          <a:ln xmlns:a="http://schemas.openxmlformats.org/drawingml/2006/main" w="0">
            <a:solidFill>
              <a:srgbClr val="A8D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11D8F-9808-4801-9B7B-70E9349A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23431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D335F-7EB5-4CAC-AA91-2AF63793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MTO Data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5B32B-0A32-4FE5-9A81-BC7E0006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• filter • edit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 visible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A8904-7548-4F2B-B837-38281FDE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23431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4B49FF"/>
          </a:solidFill>
          <a:ln xmlns:a="http://schemas.openxmlformats.org/drawingml/2006/main" w="0">
            <a:solidFill>
              <a:srgbClr val="4B4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0CB88-5D39-49BC-A338-1A7A42C7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Deliverable Builder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1867C-257E-47DE-BDFA-87475747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dataset, fields,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headings, order, filters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B1503-138D-4F61-B072-1E22258E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23431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F9D72"/>
          </a:solidFill>
          <a:ln xmlns:a="http://schemas.openxmlformats.org/drawingml/2006/main" w="0">
            <a:solidFill>
              <a:srgbClr val="1F9D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A7CD8-2576-4D9E-B3CE-3FC38B5C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4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BOQ Master Register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BA879-7C14-4AB7-9F37-6DDF4316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status, units,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remarks,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F2805-902F-4915-B77B-754D99CB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23431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0">
            <a:solidFill>
              <a:srgbClr val="101A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95BD9-D00F-47EA-81FF-0FD13DB7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BOQ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37002-B0A2-48FB-B058-35E6816A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Maintain purchasing /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construction materials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6E7D3-190D-4819-BDD0-DD4445FF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11049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04D2E-A15F-48E8-AEE2-4137A69D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A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A2C"/>
                </a:solidFill>
                <a:latin typeface="Arial"/>
                <a:ea typeface="Arial"/>
                <a:cs typeface="Arial"/>
              </a:rPr>
              <a:t>Scope 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850BC-E21B-438E-9E50-D2028178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244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Use Latest per Drawing for consolidated totals. Keep All Saved Instances for audit only so previous revisions are never counted twice.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588D036D-6A1D-40A9-B81D-6940523A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Source: Telecom_MTO README.md + docs/USER_MANUAL.md (Lite scope)</a:t>
            </a:r>
          </a:p>
        </p:txBody>
      </p:sp>
      <p:sp>
        <p:nvSpPr>
          <p:cNvPr id="24" name="page">
            <a:extLst xmlns:a="http://schemas.openxmlformats.org/drawingml/2006/main">
              <a:ext uri="{FF2B5EF4-FFF2-40B4-BE49-F238E27FC236}">
                <a16:creationId xmlns:a16="http://schemas.microsoft.com/office/drawing/2014/main" id="{9BB28D11-01A7-4B43-ADAE-D4E9DD05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3440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AB8F93D-602F-4B2A-9822-44496F80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06  /  BACKUP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421F61-1325-40F4-BA56-1FCA7A75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Save revisions as deliberately as you take them 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36AEB-A6FC-48D2-880D-1AF7D249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8318F-8963-4AFB-89D6-71F08612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0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Lite stores browser workspaces locally. JSON is the portable handoff between browsers, machines, and reviewers.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F83CF-BCAA-4012-A00C-E8460542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A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D3C70-14D6-4CAB-9A38-3588067B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6A34B-D47E-47E9-A259-FF99E09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BC617-115D-4DE8-9274-AEEAE128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Current 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54709-EBD2-495A-A37D-F27F8DA7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Keep working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76A59-2BCA-457D-9E06-022B7618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70901-442F-4C83-B840-7F26382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DB2BA-6ADA-472E-B0DA-11CC40FF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Save As New Instance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D0C69-A698-4D62-9B7F-716D1E32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386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Milestone / revision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4992A-DFF1-4913-BE29-69D5C390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95EED-99A2-45F4-868E-78A5587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09739-DD76-4EE9-91AC-FEB7C0CF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Save Project 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18DF7-B175-445D-9DBF-AF85C554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Portable JSON backup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0CAE5-4ACD-4A5F-AE22-E42FD033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090FE-A322-4447-BE4C-52E717DE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7586B-A113-4AB5-A6AC-D6A262C5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623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Load on another device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92CC1-A2CF-4051-AFC9-6156E698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Verify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4FEE1-8EB5-43BD-9096-6D255FF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B7C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6D103F-B7EF-4E06-9FAD-69CE9291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F3E53-3720-4B01-9D56-5102C0C7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623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Latest per Drawing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75171-AA26-480B-A173-C884FC97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386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Use for totals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17453-6AA0-48B2-8EE7-B3402AA6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11125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7C47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8FDDE7-8681-420C-8CD6-12055F8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4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9422"/>
                </a:solidFill>
                <a:latin typeface="Arial"/>
                <a:ea typeface="Arial"/>
                <a:cs typeface="Arial"/>
              </a:rPr>
              <a:t>Browser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1EC50-A85E-4AF9-BFD4-0A96AA59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00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file://, another browser, another computer, and an iPhone do not automatically share IndexedDB records.</a:t>
            </a:r>
          </a:p>
        </p:txBody>
      </p:sp>
      <p:sp>
        <p:nvSpPr>
          <p:cNvPr id="29" name="source">
            <a:extLst xmlns:a="http://schemas.openxmlformats.org/drawingml/2006/main">
              <a:ext uri="{FF2B5EF4-FFF2-40B4-BE49-F238E27FC236}">
                <a16:creationId xmlns:a16="http://schemas.microsoft.com/office/drawing/2014/main" id="{5A939D70-F929-4456-93CD-E285FFCE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Source: Telecom_MTO README.md + docs/USER_MANUAL.md (Lite scope)</a:t>
            </a:r>
          </a:p>
        </p:txBody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0D25E150-745E-49E8-AB58-CC1E2DE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4859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77E6CEF-E1EF-48C9-8435-F970BD3F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CF6"/>
                </a:solidFill>
                <a:latin typeface="Arial"/>
                <a:ea typeface="Arial"/>
                <a:cs typeface="Arial"/>
              </a:rPr>
              <a:t>07  /  FINAL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E691C3-0D83-413A-9FFE-6D501100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Before issue, make the final review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BB0E3-119E-4C5A-AA36-15651D0A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43283-0135-423D-AC14-D2E3B33A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A good Lite handoff is not just a file—it is a traceable set of assumptions someone else can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65519-F96F-41A1-BE19-E793A1B8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530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24579-A54D-42BF-961F-BD98EA32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53530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B295C-638A-4373-9E14-814E6205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A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A2C"/>
                </a:solidFill>
                <a:latin typeface="Arial"/>
                <a:ea typeface="Arial"/>
                <a:cs typeface="Arial"/>
              </a:rPr>
              <a:t>Drawing +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6724D-24E3-49C1-A6CA-E71D3AE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7B915-5A26-42B9-96BD-34250C83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21A72-39E3-4935-BC7C-AA81645F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Source drawing + revision are correct.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FEC76-66AA-43E9-8351-239A4AD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EA6C5-652E-42DA-A6FB-62D58CA5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4B00E-6EF6-4E6E-B8D4-F2C359C3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Scale was checked against a second dimension.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8F71E-4D54-4002-8BEE-BD8B70EA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154F8-89F5-44F6-B5E7-3B1A1C1E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33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8E431-6350-44BD-9D7F-B952EC35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Datum, elevations, tags, and WBS fields are complete.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AC37D-DDE4-4094-934A-52FEFE8B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4A627-BA27-4F73-BB52-00BEA5A8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A95F0-5EA8-4D29-A105-B084549C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Cable From / To tags match the equipment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459CDD-84DE-48EC-BA19-B480824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3F056-3C3A-4970-B363-690550D5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0D4B4E-AEB1-49A4-A2C8-DEB5DB4C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Actual, margin, and BOQ values are understood.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4D8A8C-40E3-4F54-9368-CD9BF95F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A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A2C"/>
                </a:solidFill>
                <a:latin typeface="Arial"/>
                <a:ea typeface="Arial"/>
                <a:cs typeface="Arial"/>
              </a:rPr>
              <a:t>Sizing + handoff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3F3D6-BA7C-4110-8B71-5B6B3412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E95C5-0271-4B9E-B3E8-665085F2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67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3E739-DBE8-4B1B-8A97-ACAE0A84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575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Nodes cover every branch and vertical transition.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2074B5-8F66-42F5-88FE-9840696E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38BFE-01CD-47A2-AD5A-2CF67D3C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051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F487FE-246C-48A9-A7BF-A5586F35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956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Tray / duct-bank fill stays within design criteria.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828FA7-9090-470E-B61D-822D4E3A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21F93-7060-45A3-96D1-7AE46407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433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0A3338-B990-470C-9CB7-28D7D27D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338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Latest per Drawing—not historical duplicates—is used.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8CFACC-6087-498D-9D0D-548F4781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7C3AD7-2DF7-493D-9BEA-04843E7F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814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32D3B2-CF7A-4466-B817-E1D61EE7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BOQ mapping, units, remarks, and status are reviewed.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7D0188-83FF-4C47-A874-D24479E6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2095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B7CF6"/>
          </a:solidFill>
          <a:ln xmlns:a="http://schemas.openxmlformats.org/drawingml/2006/main" w="0">
            <a:solidFill>
              <a:srgbClr val="2B7C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AE4E37-192D-4195-BD4B-2A621BB5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96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6DADF2-6A73-481A-BAE4-A7835872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0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JSON backup is saved before issue.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FB8154-C9D0-4B94-B471-3C14DE1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125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0">
            <a:solidFill>
              <a:srgbClr val="101A2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D3C96A-52C0-4BC6-B9A6-3B51E0D4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Shortcuts:  ? manual   •   Esc cancel / clear   •   F8 orthogonal   •   Ctrl+wheel zoom   •   Ctrl+B properties   •   Ctrl+J table</a:t>
            </a:r>
          </a:p>
        </p:txBody>
      </p:sp>
      <p:sp>
        <p:nvSpPr>
          <p:cNvPr id="41" name="source">
            <a:extLst xmlns:a="http://schemas.openxmlformats.org/drawingml/2006/main">
              <a:ext uri="{FF2B5EF4-FFF2-40B4-BE49-F238E27FC236}">
                <a16:creationId xmlns:a16="http://schemas.microsoft.com/office/drawing/2014/main" id="{E62D823E-5A87-403F-B9D6-217E1027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Source: Telecom_MTO README.md + docs/USER_MANUAL.md (Lite scope)</a:t>
            </a:r>
          </a:p>
        </p:txBody>
      </p:sp>
      <p:sp>
        <p:nvSpPr>
          <p:cNvPr id="42" name="page">
            <a:extLst xmlns:a="http://schemas.openxmlformats.org/drawingml/2006/main">
              <a:ext uri="{FF2B5EF4-FFF2-40B4-BE49-F238E27FC236}">
                <a16:creationId xmlns:a16="http://schemas.microsoft.com/office/drawing/2014/main" id="{51EBEBBF-1F18-4BB6-A405-3C7D643E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8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4911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2026-07-17T02:54:02.5180000Z</dcterms:created>
  <dcterms:modified xsi:type="dcterms:W3CDTF">2026-07-17T02:54:02.5180000Z</dcterms:modified>
</coreProperties>
</file>